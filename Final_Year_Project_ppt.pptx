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9" r:id="rId3"/>
    <p:sldId id="257" r:id="rId4"/>
    <p:sldId id="274" r:id="rId5"/>
    <p:sldId id="275" r:id="rId6"/>
    <p:sldId id="273" r:id="rId7"/>
    <p:sldId id="268" r:id="rId8"/>
    <p:sldId id="272" r:id="rId9"/>
    <p:sldId id="271" r:id="rId10"/>
    <p:sldId id="276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innera2004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keerthanaraju573-droid" TargetMode="External"/><Relationship Id="rId4" Type="http://schemas.openxmlformats.org/officeDocument/2006/relationships/hyperlink" Target="https://github.com/dhanushdhanusam7-code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Government </a:t>
            </a: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of </a:t>
            </a:r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Kerala AI-Based </a:t>
            </a: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Farmer Query Support and </a:t>
            </a:r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Advisory System Software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</a:t>
            </a:r>
            <a:r>
              <a:rPr lang="en-GB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: ISE_33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/Ms./</a:t>
            </a:r>
            <a:r>
              <a:rPr lang="en-GB" sz="1700" b="1" i="0" u="none" strike="noStrike" cap="none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Prof.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GB" sz="1700" b="1" i="0" u="none" strike="noStrike" cap="none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Alamelu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GB" sz="1700" b="1" i="0" u="none" strike="noStrike" cap="none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Mangai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J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</a:t>
            </a:r>
            <a:endParaRPr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907621521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</a:t>
                      </a:r>
                      <a:r>
                        <a:rPr lang="en-GB" sz="1800" b="1" u="none" strike="noStrike" cap="none" dirty="0" smtClean="0">
                          <a:solidFill>
                            <a:srgbClr val="17365D"/>
                          </a:solidFill>
                        </a:rPr>
                        <a:t>Number:</a:t>
                      </a:r>
                      <a:r>
                        <a:rPr lang="en-US" sz="1800" b="1" u="none" strike="noStrike" cap="none" dirty="0" smtClean="0">
                          <a:solidFill>
                            <a:srgbClr val="17365D"/>
                          </a:solidFill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</a:t>
                      </a:r>
                      <a:r>
                        <a:rPr lang="en-GB" sz="1800" b="1" u="none" strike="noStrike" cap="none" dirty="0" smtClean="0">
                          <a:solidFill>
                            <a:srgbClr val="17365D"/>
                          </a:solidFill>
                        </a:rPr>
                        <a:t>Name</a:t>
                      </a:r>
                      <a:r>
                        <a:rPr lang="en-US" sz="1800" b="1" u="none" strike="noStrike" cap="none" dirty="0" smtClean="0">
                          <a:solidFill>
                            <a:srgbClr val="17365D"/>
                          </a:solidFill>
                        </a:rPr>
                        <a:t>: 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 smtClean="0"/>
                        <a:t>20221ISE0164 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err="1" smtClean="0"/>
                        <a:t>Kinnera</a:t>
                      </a:r>
                      <a:r>
                        <a:rPr lang="en-US" sz="1800" u="none" strike="noStrike" cap="none" dirty="0" smtClean="0"/>
                        <a:t> G P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smtClean="0"/>
                        <a:t>20231ISE3002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err="1" smtClean="0"/>
                        <a:t>Dhanush</a:t>
                      </a:r>
                      <a:r>
                        <a:rPr lang="en-US" sz="1800" u="none" strike="noStrike" cap="none" baseline="0" dirty="0" smtClean="0"/>
                        <a:t> M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smtClean="0"/>
                        <a:t>20221ISE0076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err="1" smtClean="0"/>
                        <a:t>Keerthana</a:t>
                      </a:r>
                      <a:r>
                        <a:rPr lang="en-US" sz="1800" u="none" strike="noStrike" cap="none" baseline="0" dirty="0" smtClean="0"/>
                        <a:t> Raju 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08449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CSE7302-Universty </a:t>
            </a: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endParaRPr lang="en-US" sz="1800" b="1" i="0" u="none" strike="noStrike" cap="none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Dr.Zafar</a:t>
            </a:r>
            <a:r>
              <a:rPr lang="en-US" sz="18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1800" b="1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Alli</a:t>
            </a:r>
            <a:r>
              <a:rPr lang="en-US" sz="18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Khan N</a:t>
            </a:r>
            <a:endParaRPr lang="en-US" sz="1800" b="1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Ms.Suma</a:t>
            </a:r>
            <a:r>
              <a:rPr lang="en-US" sz="18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N G</a:t>
            </a:r>
            <a:endParaRPr lang="en-US" sz="1800" b="1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Organization: Government Of Kerala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(Hardware / Software / Both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: 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Description: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Farmers often face critical questions related to pests,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weather,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inputs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subsidies, and market trends—but timely expert advice is rarely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accessible.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Agri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officers and helplines are overburdened, and existing services don’t scale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to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support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individual needs across diverse regions, languages, and literacy levels.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Innovation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46646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develop an AI-powered advisory system for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farmers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enable farmers to ask queries in their native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language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objective of this project is to build an AI-based, multilingual, and user-friendly advisory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system.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To implement NLP for accurate understanding of agricultural queries.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To minimize crop losses caused by delayed or incorrect decisions.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Background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and Related work for title Selection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Farmers regularly face challenges related to pests, weather, inputs, subsidies, and market trends, but timely expert advice is often inaccessible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6200" indent="0">
              <a:buNone/>
            </a:pP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Existing digital solutions (apps, SMS, portals) mainly provide generic information and lack personalization and multilingual support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6200" indent="0">
              <a:buNone/>
            </a:pP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Recent advances in Artificial Intelligence and NLP enable intelligent, scalable, and context-aware advisory systems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6200" indent="0">
              <a:buNone/>
            </a:pP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Hence, the title “AI-Based Farmer Query Support and Advisory System” reflects the goal of delivering instant, multilingual, expert-level guidance through a Digital Krishi Officer approach.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847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Analysis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  <a:p>
            <a:pPr marL="609600" lvl="0" indent="-457200" algn="just">
              <a:spcBef>
                <a:spcPts val="0"/>
              </a:spcBef>
              <a:buSzPct val="100000"/>
              <a:buAutoNum type="arabicPeriod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Frontend: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Used to allow farmers to submit queries and view responses.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152400" lvl="0" indent="0" algn="just">
              <a:spcBef>
                <a:spcPts val="0"/>
              </a:spcBef>
              <a:buSzPct val="100000"/>
              <a:buNone/>
            </a:pP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just">
              <a:spcBef>
                <a:spcPts val="0"/>
              </a:spcBef>
              <a:buSzPct val="100000"/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Backend: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Handles request processing, logic, and communication with AI modules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152400" lvl="0" indent="0" algn="just">
              <a:spcBef>
                <a:spcPts val="0"/>
              </a:spcBef>
              <a:buSzPct val="100000"/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3.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Natural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Language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Processing: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Used to understand farmer queries and generate responses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4.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Database: Stores agricultural data and query–response mappings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5.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Deployment &amp;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Hosting: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For making the system accessible.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github.com/Kinnera2004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://github.com/dhanushdhanusam7-code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https://github.com/keerthanaraju573-droid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Analysis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of 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Software Requirements: </a:t>
            </a:r>
          </a:p>
          <a:p>
            <a:pPr marL="609600" lvl="0" indent="-457200" algn="just">
              <a:lnSpc>
                <a:spcPct val="200000"/>
              </a:lnSpc>
              <a:spcBef>
                <a:spcPts val="0"/>
              </a:spcBef>
              <a:buSzPct val="100000"/>
              <a:buAutoNum type="arabicPeriod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Operating System: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Windows 10 /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11</a:t>
            </a:r>
          </a:p>
          <a:p>
            <a:pPr marL="609600" lvl="0" indent="-457200" algn="just">
              <a:lnSpc>
                <a:spcPct val="200000"/>
              </a:lnSpc>
              <a:spcBef>
                <a:spcPts val="0"/>
              </a:spcBef>
              <a:buSzPct val="100000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Frontend Software: Web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Browser,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HTML5, CSS3,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JavaScript.</a:t>
            </a:r>
          </a:p>
          <a:p>
            <a:pPr marL="609600" lvl="0" indent="-457200" algn="just">
              <a:lnSpc>
                <a:spcPct val="200000"/>
              </a:lnSpc>
              <a:spcBef>
                <a:spcPts val="0"/>
              </a:spcBef>
              <a:buSzPct val="100000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Backend Software: Python, REST API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support.</a:t>
            </a:r>
          </a:p>
          <a:p>
            <a:pPr marL="609600" lvl="0" indent="-457200" algn="just">
              <a:lnSpc>
                <a:spcPct val="200000"/>
              </a:lnSpc>
              <a:spcBef>
                <a:spcPts val="0"/>
              </a:spcBef>
              <a:buSzPct val="100000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Database Software: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MySQL.</a:t>
            </a:r>
          </a:p>
          <a:p>
            <a:pPr marL="609600" lvl="0" indent="-457200" algn="just">
              <a:lnSpc>
                <a:spcPct val="200000"/>
              </a:lnSpc>
              <a:spcBef>
                <a:spcPts val="0"/>
              </a:spcBef>
              <a:buSzPct val="100000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Development Tools: Visual Studio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Code.</a:t>
            </a:r>
          </a:p>
          <a:p>
            <a:pPr marL="609600" lvl="0" indent="-457200" algn="just">
              <a:lnSpc>
                <a:spcPct val="200000"/>
              </a:lnSpc>
              <a:spcBef>
                <a:spcPts val="0"/>
              </a:spcBef>
              <a:buSzPct val="100000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Deployment &amp; Hosting: Localhost,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Docker.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Innovations or Novel Contribution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Introduces an AI-powered Digital Krishi Officer for 24/7 farmer support</a:t>
            </a:r>
            <a:r>
              <a:rPr lang="en-US" altLang="en-US" sz="2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Provides 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multilingual query handling (Malayalam) to overcome language </a:t>
            </a:r>
            <a:r>
              <a:rPr lang="en-US" altLang="en-US" sz="2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barriers.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Context-Aware Advisory System-Generates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recommendations based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on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crop type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107327"/>
              </p:ext>
            </p:extLst>
          </p:nvPr>
        </p:nvGraphicFramePr>
        <p:xfrm>
          <a:off x="1042954" y="1175658"/>
          <a:ext cx="8128000" cy="4844007"/>
        </p:xfrm>
        <a:graphic>
          <a:graphicData uri="http://schemas.openxmlformats.org/drawingml/2006/table">
            <a:tbl>
              <a:tblPr firstRow="1" bandRow="1"/>
              <a:tblGrid>
                <a:gridCol w="1625600">
                  <a:extLst>
                    <a:ext uri="{9D8B030D-6E8A-4147-A177-3AD203B41FA5}">
                      <a16:colId xmlns:a16="http://schemas.microsoft.com/office/drawing/2014/main" val="286476812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132238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1723763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8763178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88777888"/>
                    </a:ext>
                  </a:extLst>
                </a:gridCol>
              </a:tblGrid>
              <a:tr h="546327">
                <a:tc>
                  <a:txBody>
                    <a:bodyPr/>
                    <a:lstStyle/>
                    <a:p>
                      <a:r>
                        <a:rPr lang="en-IN" b="1" dirty="0" smtClean="0"/>
                        <a:t>Review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Phase / Activities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Start Date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End Date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Duration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234326"/>
                  </a:ext>
                </a:extLst>
              </a:tr>
              <a:tr h="494958">
                <a:tc>
                  <a:txBody>
                    <a:bodyPr/>
                    <a:lstStyle/>
                    <a:p>
                      <a:r>
                        <a:rPr lang="en-IN" dirty="0" smtClean="0"/>
                        <a:t>Review 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Presentation</a:t>
                      </a:r>
                      <a:r>
                        <a:rPr lang="en-US" baseline="0" dirty="0" smtClean="0"/>
                        <a:t> of the project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10-01-2026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16-01-2026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r>
                        <a:rPr lang="en-US" baseline="0" dirty="0" smtClean="0"/>
                        <a:t> week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688718"/>
                  </a:ext>
                </a:extLst>
              </a:tr>
              <a:tr h="902571">
                <a:tc>
                  <a:txBody>
                    <a:bodyPr/>
                    <a:lstStyle/>
                    <a:p>
                      <a:r>
                        <a:rPr lang="en-IN" dirty="0" smtClean="0"/>
                        <a:t>Review 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System Design, Architecture, Technology Stack Selection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31-01-2026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06-02-2026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week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452258"/>
                  </a:ext>
                </a:extLst>
              </a:tr>
              <a:tr h="902571">
                <a:tc>
                  <a:txBody>
                    <a:bodyPr/>
                    <a:lstStyle/>
                    <a:p>
                      <a:r>
                        <a:rPr lang="en-IN" dirty="0" smtClean="0"/>
                        <a:t>Review 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Frontend &amp; Backend Development, AI &amp; NLP Integration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28-02-2026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06-03-2026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week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969963"/>
                  </a:ext>
                </a:extLst>
              </a:tr>
              <a:tr h="1106378">
                <a:tc>
                  <a:txBody>
                    <a:bodyPr/>
                    <a:lstStyle/>
                    <a:p>
                      <a:r>
                        <a:rPr lang="en-IN" dirty="0" smtClean="0"/>
                        <a:t>Review 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System Testing, Multilingual Support, Performance Enhancement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03-04-2026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09-04-2026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week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89522"/>
                  </a:ext>
                </a:extLst>
              </a:tr>
              <a:tr h="698765">
                <a:tc>
                  <a:txBody>
                    <a:bodyPr/>
                    <a:lstStyle/>
                    <a:p>
                      <a:r>
                        <a:rPr lang="en-IN" dirty="0" smtClean="0"/>
                        <a:t>Review 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Final Deployment, Documentation, Submission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20-04-2026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26-04-2026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week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498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792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 smtClean="0"/>
              <a:t>[1]. </a:t>
            </a:r>
            <a:r>
              <a:rPr lang="en-US" dirty="0"/>
              <a:t>Food and Agriculture Organization (FAO), </a:t>
            </a:r>
            <a:r>
              <a:rPr lang="en-US" i="1" dirty="0"/>
              <a:t>Digital Agriculture and AI for Sustainable Food Systems</a:t>
            </a:r>
            <a:r>
              <a:rPr lang="en-US" dirty="0"/>
              <a:t>, FAO Publications, Rome</a:t>
            </a:r>
            <a:r>
              <a:rPr lang="en-US" dirty="0" smtClean="0"/>
              <a:t>.</a:t>
            </a:r>
          </a:p>
          <a:p>
            <a:pPr marL="609600" lvl="1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 smtClean="0"/>
              <a:t>[2]. Ministry </a:t>
            </a:r>
            <a:r>
              <a:rPr lang="en-US" dirty="0"/>
              <a:t>of Agriculture &amp; Farmers Welfare, Government of India, </a:t>
            </a:r>
            <a:r>
              <a:rPr lang="en-US" i="1" dirty="0"/>
              <a:t>Agricultural Extension Services and Digital Initiatives</a:t>
            </a:r>
            <a:r>
              <a:rPr lang="en-US" dirty="0" smtClean="0"/>
              <a:t>.</a:t>
            </a:r>
          </a:p>
          <a:p>
            <a:pPr marL="609600" lvl="1" indent="0">
              <a:spcBef>
                <a:spcPts val="0"/>
              </a:spcBef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 smtClean="0"/>
              <a:t>[3]. </a:t>
            </a:r>
            <a:r>
              <a:rPr lang="en-US" dirty="0"/>
              <a:t>Government of Kerala, </a:t>
            </a:r>
            <a:r>
              <a:rPr lang="en-US" i="1" dirty="0"/>
              <a:t>Krishi </a:t>
            </a:r>
            <a:r>
              <a:rPr lang="en-US" i="1" dirty="0" err="1"/>
              <a:t>Bhavan</a:t>
            </a:r>
            <a:r>
              <a:rPr lang="en-US" i="1" dirty="0"/>
              <a:t> Digital Services and Farmer Support Systems</a:t>
            </a:r>
            <a:r>
              <a:rPr lang="en-US" dirty="0"/>
              <a:t>.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681</Words>
  <Application>Microsoft Office PowerPoint</Application>
  <PresentationFormat>Widescreen</PresentationFormat>
  <Paragraphs>134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Bookman Old Style</vt:lpstr>
      <vt:lpstr>Cambria</vt:lpstr>
      <vt:lpstr>Verdana</vt:lpstr>
      <vt:lpstr>Wingdings</vt:lpstr>
      <vt:lpstr>Bioinformatics</vt:lpstr>
      <vt:lpstr>Government of Kerala AI-Based Farmer Query Support and Advisory System Software</vt:lpstr>
      <vt:lpstr>Problem Statement Number: </vt:lpstr>
      <vt:lpstr>Content</vt:lpstr>
      <vt:lpstr>Objectives</vt:lpstr>
      <vt:lpstr> Background and Related work for title Selection </vt:lpstr>
      <vt:lpstr>Analysis of Problem Statement</vt:lpstr>
      <vt:lpstr>Github Link</vt:lpstr>
      <vt:lpstr>Analysis of Problem Statement (contd...)</vt:lpstr>
      <vt:lpstr>Innovations or Novel Contribution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Admin</cp:lastModifiedBy>
  <cp:revision>54</cp:revision>
  <dcterms:modified xsi:type="dcterms:W3CDTF">2026-01-14T11:59:30Z</dcterms:modified>
</cp:coreProperties>
</file>